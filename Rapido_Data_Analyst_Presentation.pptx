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9" r:id="rId5"/>
    <p:sldId id="270" r:id="rId6"/>
    <p:sldId id="271" r:id="rId7"/>
    <p:sldId id="264" r:id="rId8"/>
    <p:sldId id="265" r:id="rId9"/>
    <p:sldId id="259" r:id="rId10"/>
    <p:sldId id="260" r:id="rId11"/>
    <p:sldId id="261" r:id="rId12"/>
    <p:sldId id="262" r:id="rId13"/>
    <p:sldId id="266" r:id="rId14"/>
    <p:sldId id="263" r:id="rId15"/>
    <p:sldId id="267" r:id="rId16"/>
    <p:sldId id="268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834" autoAdjust="0"/>
  </p:normalViewPr>
  <p:slideViewPr>
    <p:cSldViewPr snapToGrid="0" snapToObjects="1">
      <p:cViewPr varScale="1">
        <p:scale>
          <a:sx n="62" d="100"/>
          <a:sy n="62" d="100"/>
        </p:scale>
        <p:origin x="870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EE7E4E-1426-4A96-9CF9-2F7BEAA3CC00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0F2B5A-45C0-4C99-BA9A-B6BEDDE833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397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0F2B5A-45C0-4C99-BA9A-B6BEDDE8334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96393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0F2B5A-45C0-4C99-BA9A-B6BEDDE83349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3584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913" y="1623378"/>
            <a:ext cx="8229600" cy="1143000"/>
          </a:xfrm>
        </p:spPr>
        <p:txBody>
          <a:bodyPr>
            <a:normAutofit/>
          </a:bodyPr>
          <a:lstStyle/>
          <a:p>
            <a:pPr algn="ctr">
              <a:defRPr sz="3200" b="1">
                <a:solidFill>
                  <a:srgbClr val="FFC107"/>
                </a:solidFill>
              </a:defRPr>
            </a:pPr>
            <a:r>
              <a:rPr sz="4000" u="sng" dirty="0" smtClean="0"/>
              <a:t>Rapido Ride Analytics Report</a:t>
            </a:r>
            <a:endParaRPr sz="4000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440" y="3541967"/>
            <a:ext cx="4423451" cy="3063639"/>
          </a:xfrm>
        </p:spPr>
        <p:txBody>
          <a:bodyPr>
            <a:norm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endParaRPr lang="en-US" dirty="0" smtClean="0"/>
          </a:p>
          <a:p>
            <a:pPr marL="0" indent="0">
              <a:buNone/>
              <a:defRPr sz="1600">
                <a:solidFill>
                  <a:srgbClr val="FFFFFF"/>
                </a:solidFill>
              </a:defRPr>
            </a:pPr>
            <a:r>
              <a:rPr b="1" dirty="0" smtClean="0"/>
              <a:t>Role</a:t>
            </a:r>
            <a:r>
              <a:rPr b="1" dirty="0"/>
              <a:t>: Data </a:t>
            </a:r>
            <a:r>
              <a:rPr b="1" dirty="0" smtClean="0"/>
              <a:t>Analyst</a:t>
            </a:r>
            <a:endParaRPr b="1" dirty="0"/>
          </a:p>
          <a:p>
            <a:pPr marL="0" indent="0">
              <a:buNone/>
              <a:defRPr sz="1600">
                <a:solidFill>
                  <a:srgbClr val="FFFFFF"/>
                </a:solidFill>
              </a:defRPr>
            </a:pPr>
            <a:r>
              <a:rPr b="1" dirty="0" smtClean="0"/>
              <a:t>Prepared </a:t>
            </a:r>
            <a:r>
              <a:rPr b="1" dirty="0"/>
              <a:t>by: Rumaisa KK</a:t>
            </a:r>
          </a:p>
          <a:p>
            <a:pPr marL="0" indent="0">
              <a:buNone/>
              <a:defRPr sz="1600">
                <a:solidFill>
                  <a:srgbClr val="FFFFFF"/>
                </a:solidFill>
              </a:defRPr>
            </a:pPr>
            <a:r>
              <a:rPr b="1" dirty="0" smtClean="0"/>
              <a:t>Company</a:t>
            </a:r>
            <a:r>
              <a:rPr b="1" dirty="0"/>
              <a:t>: Doctosmart Enterprises Pvt Ltd</a:t>
            </a:r>
          </a:p>
          <a:p>
            <a:pPr marL="0" indent="0">
              <a:buNone/>
              <a:defRPr sz="1600">
                <a:solidFill>
                  <a:srgbClr val="FFFFFF"/>
                </a:solidFill>
              </a:defRPr>
            </a:pPr>
            <a:endParaRPr dirty="0"/>
          </a:p>
          <a:p>
            <a:pPr marL="0" indent="0">
              <a:buNone/>
              <a:defRPr sz="1600">
                <a:solidFill>
                  <a:srgbClr val="FFFFFF"/>
                </a:solidFill>
              </a:defRPr>
            </a:pPr>
            <a:r>
              <a:rPr lang="en-US" sz="1600" dirty="0"/>
              <a:t>This report presents data-driven insights into </a:t>
            </a:r>
            <a:r>
              <a:rPr lang="en-US" sz="1600" dirty="0" smtClean="0"/>
              <a:t>ride</a:t>
            </a:r>
          </a:p>
          <a:p>
            <a:pPr marL="0" indent="0">
              <a:buNone/>
              <a:defRPr sz="1600">
                <a:solidFill>
                  <a:srgbClr val="FFFFFF"/>
                </a:solidFill>
              </a:defRPr>
            </a:pPr>
            <a:r>
              <a:rPr lang="en-US" sz="1600" dirty="0" smtClean="0"/>
              <a:t>demand </a:t>
            </a:r>
            <a:r>
              <a:rPr lang="en-US" sz="1600" dirty="0"/>
              <a:t>and operational performance</a:t>
            </a:r>
            <a:r>
              <a:rPr lang="en-US" sz="1600" dirty="0" smtClean="0"/>
              <a:t>.</a:t>
            </a:r>
          </a:p>
          <a:p>
            <a:pPr marL="0" indent="0">
              <a:buNone/>
              <a:defRPr sz="1600">
                <a:solidFill>
                  <a:srgbClr val="FFFFFF"/>
                </a:solidFill>
              </a:defRPr>
            </a:pPr>
            <a:endParaRPr lang="en-US" sz="1600" dirty="0" smtClean="0"/>
          </a:p>
          <a:p>
            <a:pPr marL="0" indent="0">
              <a:buNone/>
              <a:defRPr sz="1600">
                <a:solidFill>
                  <a:srgbClr val="FFFFFF"/>
                </a:solidFill>
              </a:defRPr>
            </a:pPr>
            <a:r>
              <a:rPr lang="en-IN" sz="1600" b="1" dirty="0" smtClean="0"/>
              <a:t>Reporting </a:t>
            </a:r>
            <a:r>
              <a:rPr lang="en-IN" sz="1600" b="1" dirty="0"/>
              <a:t>Period: December 2023</a:t>
            </a:r>
            <a:endParaRPr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5891" y="3541967"/>
            <a:ext cx="3977102" cy="3063640"/>
          </a:xfrm>
          <a:prstGeom prst="rect">
            <a:avLst/>
          </a:prstGeom>
          <a:effectLst>
            <a:glow rad="101600">
              <a:schemeClr val="accent1">
                <a:alpha val="85000"/>
              </a:schemeClr>
            </a:glow>
            <a:outerShdw sx="1000" sy="1000" algn="tl" rotWithShape="0">
              <a:prstClr val="black"/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0282"/>
          </a:xfrm>
        </p:spPr>
        <p:txBody>
          <a:bodyPr/>
          <a:lstStyle/>
          <a:p>
            <a:pPr algn="ctr">
              <a:defRPr sz="3200" b="1">
                <a:solidFill>
                  <a:srgbClr val="FFC107"/>
                </a:solidFill>
              </a:defRPr>
            </a:pPr>
            <a:r>
              <a:rPr dirty="0"/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32560"/>
            <a:ext cx="8229600" cy="5105400"/>
          </a:xfrm>
        </p:spPr>
        <p:txBody>
          <a:bodyPr>
            <a:normAutofit/>
          </a:bodyPr>
          <a:lstStyle/>
          <a:p>
            <a:pPr>
              <a:defRPr sz="1600"/>
            </a:pPr>
            <a:r>
              <a:rPr lang="en-US" sz="1600" b="1" dirty="0">
                <a:solidFill>
                  <a:schemeClr val="bg1"/>
                </a:solidFill>
              </a:rPr>
              <a:t>183K+ rides </a:t>
            </a:r>
            <a:r>
              <a:rPr lang="en-US" sz="1600" dirty="0">
                <a:solidFill>
                  <a:schemeClr val="bg1"/>
                </a:solidFill>
              </a:rPr>
              <a:t>analyzed for </a:t>
            </a:r>
            <a:r>
              <a:rPr lang="en-US" sz="1600" b="1" dirty="0">
                <a:solidFill>
                  <a:schemeClr val="bg1"/>
                </a:solidFill>
              </a:rPr>
              <a:t>December 2023</a:t>
            </a:r>
            <a:r>
              <a:rPr lang="en-US" sz="1600" dirty="0">
                <a:solidFill>
                  <a:schemeClr val="bg1"/>
                </a:solidFill>
              </a:rPr>
              <a:t>, providing a comprehensive view of platform usage and customer behavior</a:t>
            </a:r>
            <a:r>
              <a:rPr lang="en-US" sz="1600" dirty="0" smtClean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  <a:defRPr sz="1600"/>
            </a:pPr>
            <a:endParaRPr lang="en-US" sz="1600" dirty="0">
              <a:solidFill>
                <a:schemeClr val="bg1"/>
              </a:solidFill>
            </a:endParaRPr>
          </a:p>
          <a:p>
            <a:pPr>
              <a:defRPr sz="1600"/>
            </a:pPr>
            <a:r>
              <a:rPr lang="en-US" sz="1600" dirty="0">
                <a:solidFill>
                  <a:schemeClr val="bg1"/>
                </a:solidFill>
              </a:rPr>
              <a:t>Demand peaks during morning and evening commute hours, while afternoon periods contribute the highest overall ride volume</a:t>
            </a:r>
            <a:r>
              <a:rPr lang="en-US" sz="1600" dirty="0" smtClean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  <a:defRPr sz="1600"/>
            </a:pPr>
            <a:endParaRPr lang="en-US" sz="1600" dirty="0">
              <a:solidFill>
                <a:schemeClr val="bg1"/>
              </a:solidFill>
            </a:endParaRPr>
          </a:p>
          <a:p>
            <a:pPr>
              <a:defRPr sz="1600"/>
            </a:pPr>
            <a:r>
              <a:rPr lang="en-US" sz="1600" b="1" dirty="0">
                <a:solidFill>
                  <a:schemeClr val="bg1"/>
                </a:solidFill>
              </a:rPr>
              <a:t>Electric bikes</a:t>
            </a:r>
            <a:r>
              <a:rPr lang="en-US" sz="1600" dirty="0">
                <a:solidFill>
                  <a:schemeClr val="bg1"/>
                </a:solidFill>
              </a:rPr>
              <a:t> show steady adoption, highlighting growth potential for sustainable mobility</a:t>
            </a:r>
            <a:r>
              <a:rPr lang="en-US" sz="1600" dirty="0" smtClean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  <a:defRPr sz="1600"/>
            </a:pPr>
            <a:endParaRPr lang="en-US" sz="1600" dirty="0">
              <a:solidFill>
                <a:schemeClr val="bg1"/>
              </a:solidFill>
            </a:endParaRPr>
          </a:p>
          <a:p>
            <a:pPr>
              <a:defRPr sz="1600"/>
            </a:pPr>
            <a:r>
              <a:rPr lang="en-US" sz="1600" dirty="0">
                <a:solidFill>
                  <a:schemeClr val="bg1"/>
                </a:solidFill>
              </a:rPr>
              <a:t>Average ride duration of ~14 minutes indicates primary usage for short, urban trips</a:t>
            </a:r>
            <a:r>
              <a:rPr lang="en-US" sz="1600" dirty="0" smtClean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  <a:defRPr sz="1600"/>
            </a:pPr>
            <a:endParaRPr lang="en-US" sz="1600" dirty="0">
              <a:solidFill>
                <a:schemeClr val="bg1"/>
              </a:solidFill>
            </a:endParaRPr>
          </a:p>
          <a:p>
            <a:pPr>
              <a:defRPr sz="1600"/>
            </a:pPr>
            <a:r>
              <a:rPr lang="en-US" sz="1600" dirty="0">
                <a:solidFill>
                  <a:schemeClr val="bg1"/>
                </a:solidFill>
              </a:rPr>
              <a:t>Low cancellation rate (1.19%) reflects strong operational efficiency</a:t>
            </a:r>
            <a:r>
              <a:rPr lang="en-US" sz="1600" dirty="0" smtClean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  <a:defRPr sz="1600"/>
            </a:pPr>
            <a:endParaRPr lang="en-US" sz="1600" dirty="0">
              <a:solidFill>
                <a:schemeClr val="bg1"/>
              </a:solidFill>
            </a:endParaRPr>
          </a:p>
          <a:p>
            <a:pPr>
              <a:defRPr sz="1600"/>
            </a:pPr>
            <a:r>
              <a:rPr lang="en-US" dirty="0">
                <a:solidFill>
                  <a:schemeClr val="bg1"/>
                </a:solidFill>
              </a:rPr>
              <a:t>Ride demand is concentrated across </a:t>
            </a:r>
            <a:r>
              <a:rPr lang="en-US" b="1" dirty="0">
                <a:solidFill>
                  <a:schemeClr val="bg1"/>
                </a:solidFill>
              </a:rPr>
              <a:t>a small number of high-demand start locations</a:t>
            </a:r>
            <a:r>
              <a:rPr lang="en-US" dirty="0">
                <a:solidFill>
                  <a:schemeClr val="bg1"/>
                </a:solidFill>
              </a:rPr>
              <a:t>, supporting location-based planning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  <a:defRPr sz="1600"/>
            </a:pPr>
            <a:endParaRPr lang="en-US" sz="1600" dirty="0">
              <a:solidFill>
                <a:schemeClr val="bg1"/>
              </a:solidFill>
            </a:endParaRPr>
          </a:p>
          <a:p>
            <a:pPr>
              <a:defRPr sz="1600"/>
            </a:pPr>
            <a:r>
              <a:rPr lang="en-US" sz="1600" dirty="0">
                <a:solidFill>
                  <a:schemeClr val="bg1"/>
                </a:solidFill>
              </a:rPr>
              <a:t>Insights enable data-driven decisions for capacity planning, pricing strategy, and optimization.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6038"/>
            <a:ext cx="8229600" cy="761682"/>
          </a:xfrm>
        </p:spPr>
        <p:txBody>
          <a:bodyPr/>
          <a:lstStyle/>
          <a:p>
            <a:pPr algn="ctr">
              <a:defRPr sz="3200" b="1">
                <a:solidFill>
                  <a:srgbClr val="FFC107"/>
                </a:solidFill>
              </a:defRPr>
            </a:pPr>
            <a:r>
              <a:rPr dirty="0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08978"/>
            <a:ext cx="8229600" cy="5966142"/>
          </a:xfrm>
        </p:spPr>
        <p:txBody>
          <a:bodyPr>
            <a:noAutofit/>
          </a:bodyPr>
          <a:lstStyle/>
          <a:p>
            <a:pPr>
              <a:buFont typeface="+mj-lt"/>
              <a:buAutoNum type="arabicPeriod"/>
            </a:pPr>
            <a:r>
              <a:rPr lang="en-US" sz="1800" b="1" dirty="0">
                <a:solidFill>
                  <a:schemeClr val="bg1"/>
                </a:solidFill>
              </a:rPr>
              <a:t>Data Collection</a:t>
            </a:r>
            <a:r>
              <a:rPr lang="en-US" sz="1600" dirty="0">
                <a:solidFill>
                  <a:schemeClr val="bg1"/>
                </a:solidFill>
              </a:rPr>
              <a:t/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Raw ride data was sourced from structured Excel files containing ride, time, location, and customer attributes. This ensured complete coverage of operational data for the analysis period</a:t>
            </a:r>
            <a:r>
              <a:rPr lang="en-US" sz="1600" dirty="0" smtClean="0">
                <a:solidFill>
                  <a:schemeClr val="bg1"/>
                </a:solidFill>
              </a:rPr>
              <a:t>.</a:t>
            </a:r>
          </a:p>
          <a:p>
            <a:pPr>
              <a:buFont typeface="+mj-lt"/>
              <a:buAutoNum type="arabicPeriod"/>
            </a:pPr>
            <a:endParaRPr lang="en-US" sz="1600" dirty="0">
              <a:solidFill>
                <a:schemeClr val="bg1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1800" b="1" dirty="0">
                <a:solidFill>
                  <a:schemeClr val="bg1"/>
                </a:solidFill>
              </a:rPr>
              <a:t>Data Cleaning &amp; Standardization</a:t>
            </a:r>
            <a:r>
              <a:rPr lang="en-US" sz="1600" dirty="0">
                <a:solidFill>
                  <a:schemeClr val="bg1"/>
                </a:solidFill>
              </a:rPr>
              <a:t/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The dataset was cleaned by removing duplicates, handling missing or inconsistent values, and standardizing date, time, and location formats to ensure data accuracy and consistency</a:t>
            </a:r>
            <a:r>
              <a:rPr lang="en-US" sz="1600" dirty="0" smtClean="0">
                <a:solidFill>
                  <a:schemeClr val="bg1"/>
                </a:solidFill>
              </a:rPr>
              <a:t>.</a:t>
            </a:r>
          </a:p>
          <a:p>
            <a:pPr>
              <a:buFont typeface="+mj-lt"/>
              <a:buAutoNum type="arabicPeriod"/>
            </a:pPr>
            <a:endParaRPr lang="en-US" sz="1600" dirty="0">
              <a:solidFill>
                <a:schemeClr val="bg1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1800" b="1" dirty="0">
                <a:solidFill>
                  <a:schemeClr val="bg1"/>
                </a:solidFill>
              </a:rPr>
              <a:t>Feature Engineering</a:t>
            </a:r>
            <a:r>
              <a:rPr lang="en-US" sz="1800" dirty="0">
                <a:solidFill>
                  <a:schemeClr val="bg1"/>
                </a:solidFill>
              </a:rPr>
              <a:t/>
            </a:r>
            <a:br>
              <a:rPr lang="en-US" sz="18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Additional analytical fields were derived, including ride duration, distance, time-based attributes, and categorical groupings to support deeper insights</a:t>
            </a:r>
            <a:r>
              <a:rPr lang="en-US" sz="1600" dirty="0" smtClean="0">
                <a:solidFill>
                  <a:schemeClr val="bg1"/>
                </a:solidFill>
              </a:rPr>
              <a:t>.</a:t>
            </a:r>
          </a:p>
          <a:p>
            <a:pPr>
              <a:buFont typeface="+mj-lt"/>
              <a:buAutoNum type="arabicPeriod"/>
            </a:pPr>
            <a:endParaRPr lang="en-US" sz="1600" dirty="0" smtClean="0">
              <a:solidFill>
                <a:schemeClr val="bg1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1800" b="1" dirty="0" smtClean="0">
                <a:solidFill>
                  <a:schemeClr val="bg1"/>
                </a:solidFill>
              </a:rPr>
              <a:t>KPI </a:t>
            </a:r>
            <a:r>
              <a:rPr lang="en-US" sz="1800" b="1" dirty="0">
                <a:solidFill>
                  <a:schemeClr val="bg1"/>
                </a:solidFill>
              </a:rPr>
              <a:t>Calculation &amp; Data Modeling</a:t>
            </a:r>
            <a:r>
              <a:rPr lang="en-US" sz="1800" dirty="0">
                <a:solidFill>
                  <a:schemeClr val="bg1"/>
                </a:solidFill>
              </a:rPr>
              <a:t/>
            </a:r>
            <a:br>
              <a:rPr lang="en-US" sz="18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Key performance indicators such as total rides, average ride duration, completion rate, cancellation rate, and peak-time metrics were calculated using SQL and DAX within Power BI</a:t>
            </a:r>
            <a:r>
              <a:rPr lang="en-US" sz="1600" dirty="0" smtClean="0">
                <a:solidFill>
                  <a:schemeClr val="bg1"/>
                </a:solidFill>
              </a:rPr>
              <a:t>, </a:t>
            </a:r>
            <a:r>
              <a:rPr lang="en-US" sz="1600" dirty="0">
                <a:solidFill>
                  <a:schemeClr val="bg1"/>
                </a:solidFill>
              </a:rPr>
              <a:t>ensuring scalable and reusable measures</a:t>
            </a:r>
            <a:r>
              <a:rPr lang="en-US" sz="1600" dirty="0" smtClean="0">
                <a:solidFill>
                  <a:schemeClr val="bg1"/>
                </a:solidFill>
              </a:rPr>
              <a:t>.</a:t>
            </a:r>
          </a:p>
          <a:p>
            <a:pPr>
              <a:buFont typeface="+mj-lt"/>
              <a:buAutoNum type="arabicPeriod"/>
            </a:pPr>
            <a:endParaRPr lang="en-US" sz="1600" dirty="0" smtClean="0">
              <a:solidFill>
                <a:schemeClr val="bg1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1800" b="1" dirty="0" smtClean="0">
                <a:solidFill>
                  <a:schemeClr val="bg1"/>
                </a:solidFill>
              </a:rPr>
              <a:t>Visualization </a:t>
            </a:r>
            <a:r>
              <a:rPr lang="en-US" sz="1800" b="1" dirty="0">
                <a:solidFill>
                  <a:schemeClr val="bg1"/>
                </a:solidFill>
              </a:rPr>
              <a:t>&amp; Insight Generation</a:t>
            </a:r>
            <a:r>
              <a:rPr lang="en-US" sz="1600" dirty="0">
                <a:solidFill>
                  <a:schemeClr val="bg1"/>
                </a:solidFill>
              </a:rPr>
              <a:t/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Interactive dashboards were developed in Power BI using KPI cards, trend charts, distribution visuals, and slicers, enabling stakeholders to explore data dynamically and derive actionable insights.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61682"/>
          </a:xfrm>
        </p:spPr>
        <p:txBody>
          <a:bodyPr/>
          <a:lstStyle/>
          <a:p>
            <a:pPr>
              <a:defRPr sz="3200" b="1">
                <a:solidFill>
                  <a:srgbClr val="FFC107"/>
                </a:solidFill>
              </a:defRPr>
            </a:pPr>
            <a:r>
              <a:rPr lang="en-IN" sz="3200" b="1" dirty="0" smtClean="0"/>
              <a:t>Data </a:t>
            </a:r>
            <a:r>
              <a:rPr lang="en-IN" sz="3200" b="1" dirty="0"/>
              <a:t>Preparation &amp; Feature Engineering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96440"/>
            <a:ext cx="8229600" cy="41227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u="sng" dirty="0">
                <a:solidFill>
                  <a:schemeClr val="bg1"/>
                </a:solidFill>
              </a:rPr>
              <a:t>Original Dataset (Raw Fields</a:t>
            </a:r>
            <a:r>
              <a:rPr lang="en-US" sz="1800" b="1" u="sng" dirty="0" smtClean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endParaRPr lang="en-US" sz="1600" b="1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The initial dataset contained raw operational fields such as:</a:t>
            </a:r>
          </a:p>
          <a:p>
            <a:r>
              <a:rPr lang="en-US" sz="1600" dirty="0">
                <a:solidFill>
                  <a:schemeClr val="bg1"/>
                </a:solidFill>
              </a:rPr>
              <a:t>Order ID, Vehicle</a:t>
            </a:r>
          </a:p>
          <a:p>
            <a:r>
              <a:rPr lang="en-US" sz="1600" dirty="0">
                <a:solidFill>
                  <a:schemeClr val="bg1"/>
                </a:solidFill>
              </a:rPr>
              <a:t>Start Time, End Time, Duration</a:t>
            </a:r>
          </a:p>
          <a:p>
            <a:r>
              <a:rPr lang="en-US" sz="1600" dirty="0">
                <a:solidFill>
                  <a:schemeClr val="bg1"/>
                </a:solidFill>
              </a:rPr>
              <a:t>Start &amp; End Locations with Location IDs</a:t>
            </a:r>
          </a:p>
          <a:p>
            <a:r>
              <a:rPr lang="en-US" sz="1600" dirty="0">
                <a:solidFill>
                  <a:schemeClr val="bg1"/>
                </a:solidFill>
              </a:rPr>
              <a:t>Latitude &amp; Longitude</a:t>
            </a:r>
          </a:p>
          <a:p>
            <a:r>
              <a:rPr lang="en-US" sz="1600" dirty="0">
                <a:solidFill>
                  <a:schemeClr val="bg1"/>
                </a:solidFill>
              </a:rPr>
              <a:t>Customer </a:t>
            </a:r>
            <a:r>
              <a:rPr lang="en-US" sz="1600" dirty="0" smtClean="0">
                <a:solidFill>
                  <a:schemeClr val="bg1"/>
                </a:solidFill>
              </a:rPr>
              <a:t>Type</a:t>
            </a: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These fields captured </a:t>
            </a:r>
            <a:r>
              <a:rPr lang="en-US" sz="1600" b="1" dirty="0">
                <a:solidFill>
                  <a:schemeClr val="bg1"/>
                </a:solidFill>
              </a:rPr>
              <a:t>transaction-level ride data</a:t>
            </a:r>
            <a:r>
              <a:rPr lang="en-US" sz="1600" dirty="0">
                <a:solidFill>
                  <a:schemeClr val="bg1"/>
                </a:solidFill>
              </a:rPr>
              <a:t>, but were not sufficient for advanced time-based and performance analysis</a:t>
            </a:r>
            <a:r>
              <a:rPr lang="en-US" sz="1600" dirty="0" smtClean="0">
                <a:solidFill>
                  <a:schemeClr val="bg1"/>
                </a:solidFill>
              </a:rPr>
              <a:t>.</a:t>
            </a:r>
          </a:p>
          <a:p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571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87680"/>
            <a:ext cx="8549640" cy="59058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u="sng" dirty="0" smtClean="0">
                <a:solidFill>
                  <a:schemeClr val="bg1"/>
                </a:solidFill>
              </a:rPr>
              <a:t>Derived </a:t>
            </a:r>
            <a:r>
              <a:rPr lang="en-US" sz="1800" b="1" u="sng" dirty="0">
                <a:solidFill>
                  <a:schemeClr val="bg1"/>
                </a:solidFill>
              </a:rPr>
              <a:t>Columns for Advanced </a:t>
            </a:r>
            <a:r>
              <a:rPr lang="en-US" sz="1800" b="1" u="sng" dirty="0" smtClean="0">
                <a:solidFill>
                  <a:schemeClr val="bg1"/>
                </a:solidFill>
              </a:rPr>
              <a:t>Analysis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bg1"/>
                </a:solidFill>
              </a:rPr>
              <a:t>To </a:t>
            </a:r>
            <a:r>
              <a:rPr lang="en-US" sz="1600" dirty="0">
                <a:solidFill>
                  <a:schemeClr val="bg1"/>
                </a:solidFill>
              </a:rPr>
              <a:t>enable deeper insights, additional columns were created and grouped as follows</a:t>
            </a:r>
            <a:r>
              <a:rPr lang="en-US" sz="1600" dirty="0" smtClean="0">
                <a:solidFill>
                  <a:schemeClr val="bg1"/>
                </a:solidFill>
              </a:rPr>
              <a:t>:</a:t>
            </a: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600" b="1" dirty="0">
                <a:solidFill>
                  <a:schemeClr val="bg1"/>
                </a:solidFill>
              </a:rPr>
              <a:t>1. Ride Identification &amp; Status</a:t>
            </a:r>
          </a:p>
          <a:p>
            <a:pPr marL="0" indent="0">
              <a:buNone/>
            </a:pPr>
            <a:r>
              <a:rPr lang="en-IN" sz="1600" dirty="0" smtClean="0">
                <a:solidFill>
                  <a:schemeClr val="bg1"/>
                </a:solidFill>
              </a:rPr>
              <a:t>       Ride_ID</a:t>
            </a:r>
            <a:r>
              <a:rPr lang="en-IN" sz="1600" dirty="0">
                <a:solidFill>
                  <a:schemeClr val="bg1"/>
                </a:solidFill>
              </a:rPr>
              <a:t>, </a:t>
            </a:r>
            <a:r>
              <a:rPr lang="en-IN" sz="1600" dirty="0" smtClean="0">
                <a:solidFill>
                  <a:schemeClr val="bg1"/>
                </a:solidFill>
              </a:rPr>
              <a:t>Ride_Type,Ride_Status,User_Type</a:t>
            </a:r>
            <a:endParaRPr lang="en-IN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600" dirty="0" smtClean="0">
                <a:solidFill>
                  <a:schemeClr val="bg1"/>
                </a:solidFill>
              </a:rPr>
              <a:t>       ➡ </a:t>
            </a:r>
            <a:r>
              <a:rPr lang="en-US" sz="1600" dirty="0">
                <a:solidFill>
                  <a:schemeClr val="bg1"/>
                </a:solidFill>
              </a:rPr>
              <a:t>Enabled accurate ride tracking, de-duplication, and cancellation analysis.</a:t>
            </a:r>
            <a:r>
              <a:rPr lang="en-IN" sz="1600" dirty="0" smtClean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</a:pPr>
            <a:endParaRPr lang="en-IN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2. Time-Based Analysis Columns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bg1"/>
                </a:solidFill>
              </a:rPr>
              <a:t>       Start_Date</a:t>
            </a:r>
            <a:r>
              <a:rPr lang="en-US" sz="1600" dirty="0">
                <a:solidFill>
                  <a:schemeClr val="bg1"/>
                </a:solidFill>
              </a:rPr>
              <a:t>, Start_Time, </a:t>
            </a:r>
            <a:r>
              <a:rPr lang="en-US" sz="1600" dirty="0" smtClean="0">
                <a:solidFill>
                  <a:schemeClr val="bg1"/>
                </a:solidFill>
              </a:rPr>
              <a:t>End_Time,Ride_Date</a:t>
            </a:r>
            <a:r>
              <a:rPr lang="en-US" sz="1600" dirty="0">
                <a:solidFill>
                  <a:schemeClr val="bg1"/>
                </a:solidFill>
              </a:rPr>
              <a:t>, </a:t>
            </a:r>
            <a:r>
              <a:rPr lang="en-US" sz="1600" dirty="0" smtClean="0">
                <a:solidFill>
                  <a:schemeClr val="bg1"/>
                </a:solidFill>
              </a:rPr>
              <a:t>Ride_Hours,Day_of_Week,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bg1"/>
                </a:solidFill>
              </a:rPr>
              <a:t>       Time_Period (Morning / Afternoon / Evening / Night),Peak_Time_Flag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 smtClean="0">
                <a:solidFill>
                  <a:schemeClr val="bg1"/>
                </a:solidFill>
              </a:rPr>
              <a:t>       ➡ </a:t>
            </a:r>
            <a:r>
              <a:rPr lang="en-US" sz="1600" dirty="0">
                <a:solidFill>
                  <a:schemeClr val="bg1"/>
                </a:solidFill>
              </a:rPr>
              <a:t>Enabled hourly trends, peak vs off-peak analysis, and weekday demand patterns</a:t>
            </a:r>
            <a:r>
              <a:rPr lang="en-US" sz="1600" dirty="0" smtClean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</a:pPr>
            <a:endParaRPr lang="en-US" sz="1600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600" b="1" dirty="0">
                <a:solidFill>
                  <a:schemeClr val="bg1"/>
                </a:solidFill>
              </a:rPr>
              <a:t>3. Duration &amp; Distance Metrics</a:t>
            </a:r>
          </a:p>
          <a:p>
            <a:pPr marL="0" indent="0">
              <a:buNone/>
            </a:pPr>
            <a:r>
              <a:rPr lang="en-IN" sz="1600" dirty="0" smtClean="0">
                <a:solidFill>
                  <a:schemeClr val="bg1"/>
                </a:solidFill>
              </a:rPr>
              <a:t>       Ride_Duration_Min, Duration_Category </a:t>
            </a:r>
            <a:r>
              <a:rPr lang="en-IN" sz="1600" dirty="0">
                <a:solidFill>
                  <a:schemeClr val="bg1"/>
                </a:solidFill>
              </a:rPr>
              <a:t>(Short / Medium / Long</a:t>
            </a:r>
            <a:r>
              <a:rPr lang="en-IN" sz="1600" dirty="0" smtClean="0">
                <a:solidFill>
                  <a:schemeClr val="bg1"/>
                </a:solidFill>
              </a:rPr>
              <a:t>),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bg1"/>
                </a:solidFill>
              </a:rPr>
              <a:t> </a:t>
            </a:r>
            <a:r>
              <a:rPr lang="en-IN" sz="1600" dirty="0" smtClean="0">
                <a:solidFill>
                  <a:schemeClr val="bg1"/>
                </a:solidFill>
              </a:rPr>
              <a:t>      Distance </a:t>
            </a:r>
            <a:r>
              <a:rPr lang="en-IN" sz="1600" dirty="0">
                <a:solidFill>
                  <a:schemeClr val="bg1"/>
                </a:solidFill>
              </a:rPr>
              <a:t>(calculated using  </a:t>
            </a:r>
            <a:r>
              <a:rPr lang="en-IN" sz="1600" dirty="0" smtClean="0">
                <a:solidFill>
                  <a:schemeClr val="bg1"/>
                </a:solidFill>
              </a:rPr>
              <a:t>latitude </a:t>
            </a:r>
            <a:r>
              <a:rPr lang="en-IN" sz="1600" dirty="0">
                <a:solidFill>
                  <a:schemeClr val="bg1"/>
                </a:solidFill>
              </a:rPr>
              <a:t>&amp; longitude)</a:t>
            </a:r>
          </a:p>
          <a:p>
            <a:pPr marL="0" indent="0">
              <a:buNone/>
            </a:pPr>
            <a:r>
              <a:rPr lang="en-IN" sz="1600" dirty="0" smtClean="0">
                <a:solidFill>
                  <a:schemeClr val="bg1"/>
                </a:solidFill>
              </a:rPr>
              <a:t>       ➡ </a:t>
            </a:r>
            <a:r>
              <a:rPr lang="en-IN" sz="1600" dirty="0">
                <a:solidFill>
                  <a:schemeClr val="bg1"/>
                </a:solidFill>
              </a:rPr>
              <a:t>Enabled trip efficiency analysis and distance-based ride behavior insights</a:t>
            </a:r>
            <a:r>
              <a:rPr lang="en-IN" sz="1600" dirty="0" smtClean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</a:pPr>
            <a:endParaRPr lang="en-IN" sz="1600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4. Location &amp; Station Mapping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bg1"/>
                </a:solidFill>
              </a:rPr>
              <a:t>       Start_Location</a:t>
            </a:r>
            <a:r>
              <a:rPr lang="en-US" sz="1600" dirty="0">
                <a:solidFill>
                  <a:schemeClr val="bg1"/>
                </a:solidFill>
              </a:rPr>
              <a:t>, </a:t>
            </a:r>
            <a:r>
              <a:rPr lang="en-US" sz="1600" dirty="0" smtClean="0">
                <a:solidFill>
                  <a:schemeClr val="bg1"/>
                </a:solidFill>
              </a:rPr>
              <a:t>End_Location,Start_Station_ID</a:t>
            </a:r>
            <a:r>
              <a:rPr lang="en-US" sz="1600" dirty="0">
                <a:solidFill>
                  <a:schemeClr val="bg1"/>
                </a:solidFill>
              </a:rPr>
              <a:t>, </a:t>
            </a:r>
            <a:r>
              <a:rPr lang="en-US" sz="1600" dirty="0" smtClean="0">
                <a:solidFill>
                  <a:schemeClr val="bg1"/>
                </a:solidFill>
              </a:rPr>
              <a:t>End_Station_ID,Duplicate </a:t>
            </a:r>
            <a:r>
              <a:rPr lang="en-US" sz="1600" dirty="0">
                <a:solidFill>
                  <a:schemeClr val="bg1"/>
                </a:solidFill>
              </a:rPr>
              <a:t>ID handling </a:t>
            </a:r>
            <a:r>
              <a:rPr lang="en-US" sz="1600" dirty="0" smtClean="0">
                <a:solidFill>
                  <a:schemeClr val="bg1"/>
                </a:solidFill>
              </a:rPr>
              <a:t>  columns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 smtClean="0">
                <a:solidFill>
                  <a:schemeClr val="bg1"/>
                </a:solidFill>
              </a:rPr>
              <a:t>      ➡ </a:t>
            </a:r>
            <a:r>
              <a:rPr lang="en-US" sz="1600" dirty="0">
                <a:solidFill>
                  <a:schemeClr val="bg1"/>
                </a:solidFill>
              </a:rPr>
              <a:t>Enabled location-based demand analysis and identification of high-traffic zones.</a:t>
            </a:r>
          </a:p>
          <a:p>
            <a:pPr marL="0" indent="0">
              <a:buNone/>
            </a:pPr>
            <a:endParaRPr lang="en-IN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5535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61682"/>
          </a:xfrm>
        </p:spPr>
        <p:txBody>
          <a:bodyPr/>
          <a:lstStyle/>
          <a:p>
            <a:pPr>
              <a:defRPr sz="3200" b="1">
                <a:solidFill>
                  <a:srgbClr val="FFC107"/>
                </a:solidFill>
              </a:defRPr>
            </a:pPr>
            <a:r>
              <a:rPr lang="en-IN" sz="3200" b="1" dirty="0" smtClean="0"/>
              <a:t>SQL-Based </a:t>
            </a:r>
            <a:r>
              <a:rPr lang="en-IN" sz="3200" b="1" dirty="0"/>
              <a:t>Data Analysis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36320"/>
            <a:ext cx="8442960" cy="55930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Role of SQL in This </a:t>
            </a:r>
            <a:r>
              <a:rPr lang="en-US" sz="2000" b="1" dirty="0" smtClean="0">
                <a:solidFill>
                  <a:schemeClr val="bg1"/>
                </a:solidFill>
              </a:rPr>
              <a:t>Analysis</a:t>
            </a:r>
          </a:p>
          <a:p>
            <a:pPr marL="0" indent="0">
              <a:buNone/>
            </a:pP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After data cleaning and preprocessing, SQL was used to perform structured data analysis and validation before visualization.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SQL was applied for</a:t>
            </a:r>
            <a:r>
              <a:rPr lang="en-US" sz="1800" dirty="0" smtClean="0">
                <a:solidFill>
                  <a:schemeClr val="bg1"/>
                </a:solidFill>
              </a:rPr>
              <a:t>:</a:t>
            </a:r>
          </a:p>
          <a:p>
            <a:pPr marL="0" indent="0">
              <a:buNone/>
            </a:pPr>
            <a:endParaRPr lang="en-US" sz="1800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• Filtering and excluding invalid or incomplete records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• Aggregating ride data across time periods (hour, day, peak vs off-peak)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• Calculating key metrics such as total rides, average ride duration, and cancellation counts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• Segmenting data by ride type, user type, and location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• Validating KPI results before loading data into Power </a:t>
            </a:r>
            <a:r>
              <a:rPr lang="en-US" sz="1600" dirty="0" smtClean="0">
                <a:solidFill>
                  <a:schemeClr val="bg1"/>
                </a:solidFill>
              </a:rPr>
              <a:t>BI</a:t>
            </a:r>
          </a:p>
          <a:p>
            <a:pPr marL="0" indent="0">
              <a:buNone/>
            </a:pPr>
            <a:endParaRPr lang="en-US" sz="1600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Business Value of SQL Analysis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Using SQL ensured</a:t>
            </a:r>
            <a:r>
              <a:rPr lang="en-US" sz="1800" dirty="0" smtClean="0">
                <a:solidFill>
                  <a:schemeClr val="bg1"/>
                </a:solidFill>
              </a:rPr>
              <a:t>: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• Accurate and consistent KPI calculations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• Efficient handling of large datasets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• Reliable data foundation for Power BI dashboards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• Reduced calculation complexity at the visualization layer</a:t>
            </a: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02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3200" b="1">
                <a:solidFill>
                  <a:srgbClr val="FFC107"/>
                </a:solidFill>
              </a:defRPr>
            </a:pP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>Power </a:t>
            </a:r>
            <a:r>
              <a:rPr lang="en-IN" dirty="0"/>
              <a:t>BI Dashboard Overview</a:t>
            </a:r>
            <a:br>
              <a:rPr lang="en-IN" dirty="0"/>
            </a:br>
            <a:endParaRPr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" y="1393492"/>
            <a:ext cx="8854440" cy="5113988"/>
          </a:xfrm>
        </p:spPr>
      </p:pic>
    </p:spTree>
    <p:extLst>
      <p:ext uri="{BB962C8B-B14F-4D97-AF65-F5344CB8AC3E}">
        <p14:creationId xmlns:p14="http://schemas.microsoft.com/office/powerpoint/2010/main" val="421261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3200" b="1">
                <a:solidFill>
                  <a:srgbClr val="FFC107"/>
                </a:solidFill>
              </a:defRPr>
            </a:pPr>
            <a:r>
              <a:rPr lang="en-IN" dirty="0"/>
              <a:t/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6760"/>
            <a:ext cx="8229600" cy="5654040"/>
          </a:xfrm>
        </p:spPr>
        <p:txBody>
          <a:bodyPr>
            <a:normAutofit/>
          </a:bodyPr>
          <a:lstStyle/>
          <a:p>
            <a:pPr marL="0" indent="0">
              <a:buNone/>
              <a:defRPr sz="1600">
                <a:solidFill>
                  <a:srgbClr val="FFFFFF"/>
                </a:solidFill>
              </a:defRPr>
            </a:pPr>
            <a:r>
              <a:rPr lang="en-US" dirty="0" smtClean="0"/>
              <a:t>     </a:t>
            </a:r>
            <a:r>
              <a:rPr lang="en-US" sz="1600" dirty="0" smtClean="0"/>
              <a:t>This dashboard provides a comprehensive view of Rapido ride activity for </a:t>
            </a:r>
            <a:r>
              <a:rPr lang="en-US" sz="1600" b="1" dirty="0" smtClean="0"/>
              <a:t>December 2023</a:t>
            </a:r>
            <a:r>
              <a:rPr lang="en-US" sz="1600" dirty="0" smtClean="0"/>
              <a:t>, focusing on ride volume, time-based demand, ride types, cancellations, and location insights.</a:t>
            </a:r>
            <a:br>
              <a:rPr lang="en-US" sz="1600" dirty="0" smtClean="0"/>
            </a:br>
            <a:r>
              <a:rPr lang="en-US" sz="1600" dirty="0" smtClean="0"/>
              <a:t>It helps stakeholders quickly understand operational performance and customer behavior</a:t>
            </a:r>
          </a:p>
          <a:p>
            <a:pPr marL="0" indent="0">
              <a:buNone/>
              <a:defRPr sz="1600">
                <a:solidFill>
                  <a:srgbClr val="FFFFFF"/>
                </a:solidFill>
              </a:defRPr>
            </a:pPr>
            <a:endParaRPr lang="en-US" sz="1600" dirty="0" smtClean="0"/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1. KPI Cards (Top Section)</a:t>
            </a:r>
          </a:p>
          <a:p>
            <a:pPr lvl="2"/>
            <a:r>
              <a:rPr lang="en-US" sz="1600" b="1" dirty="0" smtClean="0">
                <a:solidFill>
                  <a:schemeClr val="bg1"/>
                </a:solidFill>
              </a:rPr>
              <a:t> Total Rides </a:t>
            </a:r>
          </a:p>
          <a:p>
            <a:pPr lvl="2"/>
            <a:r>
              <a:rPr lang="en-IN" sz="1600" dirty="0" smtClean="0">
                <a:solidFill>
                  <a:schemeClr val="bg1"/>
                </a:solidFill>
              </a:rPr>
              <a:t> Average Ride Duration</a:t>
            </a:r>
          </a:p>
          <a:p>
            <a:pPr lvl="2"/>
            <a:r>
              <a:rPr lang="en-IN" sz="1600" dirty="0" smtClean="0">
                <a:solidFill>
                  <a:schemeClr val="bg1"/>
                </a:solidFill>
              </a:rPr>
              <a:t> Average Daily Rides</a:t>
            </a:r>
          </a:p>
          <a:p>
            <a:pPr lvl="2"/>
            <a:r>
              <a:rPr lang="en-IN" sz="1600" dirty="0" smtClean="0">
                <a:solidFill>
                  <a:schemeClr val="bg1"/>
                </a:solidFill>
              </a:rPr>
              <a:t> Completed Rides</a:t>
            </a:r>
          </a:p>
          <a:p>
            <a:pPr lvl="2"/>
            <a:r>
              <a:rPr lang="en-IN" sz="1600" dirty="0" smtClean="0">
                <a:solidFill>
                  <a:schemeClr val="bg1"/>
                </a:solidFill>
              </a:rPr>
              <a:t> Cancelled Rides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bg1"/>
                </a:solidFill>
              </a:rPr>
              <a:t>2</a:t>
            </a:r>
            <a:r>
              <a:rPr lang="en-US" sz="1600" dirty="0">
                <a:solidFill>
                  <a:schemeClr val="bg1"/>
                </a:solidFill>
              </a:rPr>
              <a:t>. Peak vs Off-Peak Analysis (Bar Chart</a:t>
            </a:r>
            <a:r>
              <a:rPr lang="en-US" sz="1600" dirty="0" smtClean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fr-FR" sz="1600" dirty="0">
                <a:solidFill>
                  <a:schemeClr val="bg1"/>
                </a:solidFill>
              </a:rPr>
              <a:t>3. Ride Type Distribution (Donut Chart</a:t>
            </a:r>
            <a:r>
              <a:rPr lang="fr-FR" sz="1600" dirty="0" smtClean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4. Total Rides per Day (Hourly Analysis – Column Chart</a:t>
            </a:r>
            <a:r>
              <a:rPr lang="en-US" sz="1600" dirty="0" smtClean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5. Rides Trend Over Time (Line Chart</a:t>
            </a:r>
            <a:r>
              <a:rPr lang="en-US" sz="1600" dirty="0" smtClean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6. Top Start Locations (Horizontal Bar Chart</a:t>
            </a:r>
            <a:r>
              <a:rPr lang="en-US" sz="1600" dirty="0" smtClean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bg1"/>
                </a:solidFill>
              </a:rPr>
              <a:t>7. Duration Category Distribution (Pie Chart</a:t>
            </a:r>
            <a:r>
              <a:rPr lang="en-IN" sz="1600" dirty="0" smtClean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bg1"/>
                </a:solidFill>
              </a:rPr>
              <a:t>8. Interactive Filters (Slicers)</a:t>
            </a:r>
            <a:endParaRPr lang="en-US" sz="1600" b="1" dirty="0">
              <a:solidFill>
                <a:schemeClr val="bg1"/>
              </a:solidFill>
            </a:endParaRPr>
          </a:p>
          <a:p>
            <a:pPr marL="0" indent="0">
              <a:buNone/>
              <a:defRPr sz="1600">
                <a:solidFill>
                  <a:srgbClr val="FFFFFF"/>
                </a:solidFill>
              </a:defRPr>
            </a:pPr>
            <a:endParaRPr lang="en-US" sz="1600" dirty="0" smtClean="0"/>
          </a:p>
        </p:txBody>
      </p:sp>
    </p:spTree>
    <p:extLst>
      <p:ext uri="{BB962C8B-B14F-4D97-AF65-F5344CB8AC3E}">
        <p14:creationId xmlns:p14="http://schemas.microsoft.com/office/powerpoint/2010/main" val="3841928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FFC107"/>
                </a:solidFill>
              </a:defRPr>
            </a:pPr>
            <a:r>
              <a:t>Ride Trend Over Time</a:t>
            </a:r>
          </a:p>
        </p:txBody>
      </p:sp>
      <p:pic>
        <p:nvPicPr>
          <p:cNvPr id="3" name="Picture 2" descr="10de2189-ecc7-4aac-a853-0bcb039bf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09529"/>
            <a:ext cx="8229600" cy="2407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3992220"/>
            <a:ext cx="8412480" cy="2831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This line chart presents a comparative analysis of </a:t>
            </a:r>
            <a:r>
              <a:rPr lang="en-US" sz="1600" b="1" dirty="0">
                <a:solidFill>
                  <a:schemeClr val="bg1"/>
                </a:solidFill>
              </a:rPr>
              <a:t>Classic Bike</a:t>
            </a:r>
            <a:r>
              <a:rPr lang="en-US" sz="1600" dirty="0">
                <a:solidFill>
                  <a:schemeClr val="bg1"/>
                </a:solidFill>
              </a:rPr>
              <a:t> and </a:t>
            </a:r>
            <a:r>
              <a:rPr lang="en-US" sz="1600" b="1" dirty="0">
                <a:solidFill>
                  <a:schemeClr val="bg1"/>
                </a:solidFill>
              </a:rPr>
              <a:t>Electric Bike</a:t>
            </a:r>
            <a:r>
              <a:rPr lang="en-US" sz="1600" dirty="0">
                <a:solidFill>
                  <a:schemeClr val="bg1"/>
                </a:solidFill>
              </a:rPr>
              <a:t> ride volumes over the selected time period</a:t>
            </a:r>
            <a:r>
              <a:rPr lang="en-US" sz="1600" dirty="0" smtClean="0">
                <a:solidFill>
                  <a:schemeClr val="bg1"/>
                </a:solidFill>
              </a:rPr>
              <a:t>.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Classic bikes consistently account for the majority of rides, indicating strong and stable customer preference for traditional bike services. Electric bikes, while contributing a smaller share, demonstrate </a:t>
            </a:r>
            <a:r>
              <a:rPr lang="en-US" sz="1600" b="1" dirty="0">
                <a:solidFill>
                  <a:schemeClr val="bg1"/>
                </a:solidFill>
              </a:rPr>
              <a:t>steady and consistent adoption</a:t>
            </a:r>
            <a:r>
              <a:rPr lang="en-US" sz="1600" dirty="0">
                <a:solidFill>
                  <a:schemeClr val="bg1"/>
                </a:solidFill>
              </a:rPr>
              <a:t>, reflecting gradual customer acceptance of sustainable mobility options</a:t>
            </a:r>
            <a:r>
              <a:rPr lang="en-US" sz="1600" dirty="0" smtClean="0">
                <a:solidFill>
                  <a:schemeClr val="bg1"/>
                </a:solidFill>
              </a:rPr>
              <a:t>.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Overall, the trend highlights a </a:t>
            </a:r>
            <a:r>
              <a:rPr lang="en-US" sz="1600" b="1" dirty="0">
                <a:solidFill>
                  <a:schemeClr val="bg1"/>
                </a:solidFill>
              </a:rPr>
              <a:t>balanced demand pattern</a:t>
            </a:r>
            <a:r>
              <a:rPr lang="en-US" sz="1600" dirty="0">
                <a:solidFill>
                  <a:schemeClr val="bg1"/>
                </a:solidFill>
              </a:rPr>
              <a:t>, with clear opportunities to further expand electric bike usage through targeted initiatives and operational support.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FFC107"/>
                </a:solidFill>
              </a:defRPr>
            </a:pPr>
            <a:r>
              <a:t>Ride Type Distribution</a:t>
            </a:r>
          </a:p>
        </p:txBody>
      </p:sp>
      <p:pic>
        <p:nvPicPr>
          <p:cNvPr id="3" name="Picture 2" descr="196afb08-014f-4756-ac5c-bde98f0567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1371601"/>
            <a:ext cx="4419600" cy="2560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29640" y="4261512"/>
            <a:ext cx="751729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This donut chart illustrates the </a:t>
            </a:r>
            <a:r>
              <a:rPr lang="en-US" sz="1600" b="1" dirty="0">
                <a:solidFill>
                  <a:schemeClr val="bg1"/>
                </a:solidFill>
              </a:rPr>
              <a:t>distribution of total rides across different time periods</a:t>
            </a:r>
            <a:r>
              <a:rPr lang="en-US" sz="1600" dirty="0">
                <a:solidFill>
                  <a:schemeClr val="bg1"/>
                </a:solidFill>
              </a:rPr>
              <a:t>—morning, afternoon, evening, and night</a:t>
            </a:r>
            <a:r>
              <a:rPr lang="en-US" sz="1600" dirty="0" smtClean="0">
                <a:solidFill>
                  <a:schemeClr val="bg1"/>
                </a:solidFill>
              </a:rPr>
              <a:t>.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The analysis indicates that </a:t>
            </a:r>
            <a:r>
              <a:rPr lang="en-US" sz="1600" b="1" dirty="0">
                <a:solidFill>
                  <a:schemeClr val="bg1"/>
                </a:solidFill>
              </a:rPr>
              <a:t>afternoon and morning hours contribute the largest share of ride activity</a:t>
            </a:r>
            <a:r>
              <a:rPr lang="en-US" sz="1600" dirty="0">
                <a:solidFill>
                  <a:schemeClr val="bg1"/>
                </a:solidFill>
              </a:rPr>
              <a:t>, reflecting strong demand during core working and commuting periods. Evening rides maintain a moderate volume, while night-time usage remains comparatively lower</a:t>
            </a:r>
            <a:r>
              <a:rPr lang="en-US" sz="1600" dirty="0" smtClean="0">
                <a:solidFill>
                  <a:schemeClr val="bg1"/>
                </a:solidFill>
              </a:rPr>
              <a:t>.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These insights support </a:t>
            </a:r>
            <a:r>
              <a:rPr lang="en-US" sz="1600" b="1" dirty="0">
                <a:solidFill>
                  <a:schemeClr val="bg1"/>
                </a:solidFill>
              </a:rPr>
              <a:t>time-based resource planning</a:t>
            </a:r>
            <a:r>
              <a:rPr lang="en-US" sz="1600" dirty="0">
                <a:solidFill>
                  <a:schemeClr val="bg1"/>
                </a:solidFill>
              </a:rPr>
              <a:t>, enabling optimized bike allocation and workforce scheduling during high-demand periods.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FFC107"/>
                </a:solidFill>
              </a:defRPr>
            </a:pPr>
            <a:r>
              <a:t>Hourly Ride Distribution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1209945"/>
            <a:ext cx="4800600" cy="288961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5800" y="4336941"/>
            <a:ext cx="774192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This bar chart illustrates the </a:t>
            </a:r>
            <a:r>
              <a:rPr lang="en-US" sz="1600" b="1" dirty="0">
                <a:solidFill>
                  <a:schemeClr val="bg1"/>
                </a:solidFill>
              </a:rPr>
              <a:t>distribution of ride volume by hour</a:t>
            </a:r>
            <a:r>
              <a:rPr lang="en-US" sz="1600" dirty="0">
                <a:solidFill>
                  <a:schemeClr val="bg1"/>
                </a:solidFill>
              </a:rPr>
              <a:t>, segmented into </a:t>
            </a:r>
            <a:r>
              <a:rPr lang="en-US" sz="1600" b="1" dirty="0">
                <a:solidFill>
                  <a:schemeClr val="bg1"/>
                </a:solidFill>
              </a:rPr>
              <a:t>Peak</a:t>
            </a:r>
            <a:r>
              <a:rPr lang="en-US" sz="1600" dirty="0">
                <a:solidFill>
                  <a:schemeClr val="bg1"/>
                </a:solidFill>
              </a:rPr>
              <a:t> and </a:t>
            </a:r>
            <a:r>
              <a:rPr lang="en-US" sz="1600" b="1" dirty="0">
                <a:solidFill>
                  <a:schemeClr val="bg1"/>
                </a:solidFill>
              </a:rPr>
              <a:t>Off-Peak</a:t>
            </a:r>
            <a:r>
              <a:rPr lang="en-US" sz="1600" dirty="0">
                <a:solidFill>
                  <a:schemeClr val="bg1"/>
                </a:solidFill>
              </a:rPr>
              <a:t> periods</a:t>
            </a:r>
            <a:r>
              <a:rPr lang="en-US" sz="1600" dirty="0" smtClean="0">
                <a:solidFill>
                  <a:schemeClr val="bg1"/>
                </a:solidFill>
              </a:rPr>
              <a:t>.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The analysis reveals </a:t>
            </a:r>
            <a:r>
              <a:rPr lang="en-US" sz="1600" b="1" dirty="0">
                <a:solidFill>
                  <a:schemeClr val="bg1"/>
                </a:solidFill>
              </a:rPr>
              <a:t>distinct demand spikes during morning and evening hours</a:t>
            </a:r>
            <a:r>
              <a:rPr lang="en-US" sz="1600" dirty="0">
                <a:solidFill>
                  <a:schemeClr val="bg1"/>
                </a:solidFill>
              </a:rPr>
              <a:t>, aligning with typical commuting patterns. Ride volumes taper off during late-night and early-morning hours, indicating lower demand during these periods</a:t>
            </a:r>
            <a:r>
              <a:rPr lang="en-US" sz="1600" dirty="0" smtClean="0">
                <a:solidFill>
                  <a:schemeClr val="bg1"/>
                </a:solidFill>
              </a:rPr>
              <a:t>.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These insights enable </a:t>
            </a:r>
            <a:r>
              <a:rPr lang="en-US" sz="1600" b="1" dirty="0">
                <a:solidFill>
                  <a:schemeClr val="bg1"/>
                </a:solidFill>
              </a:rPr>
              <a:t>effective driver allocation, capacity planning, and surge management</a:t>
            </a:r>
            <a:r>
              <a:rPr lang="en-US" sz="1600" dirty="0">
                <a:solidFill>
                  <a:schemeClr val="bg1"/>
                </a:solidFill>
              </a:rPr>
              <a:t>, ensuring optimal service levels during high-demand time windows.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pPr>
              <a:defRPr sz="3200" b="1">
                <a:solidFill>
                  <a:srgbClr val="FFC107"/>
                </a:solidFill>
              </a:defRPr>
            </a:pPr>
            <a:r>
              <a:rPr lang="en-IN" sz="3200" b="1" dirty="0"/>
              <a:t>Recommendations</a:t>
            </a:r>
            <a:r>
              <a:rPr lang="en-IN" sz="3200" b="1" dirty="0" smtClean="0"/>
              <a:t> </a:t>
            </a:r>
            <a:r>
              <a:rPr lang="en-IN" sz="3200" b="1" dirty="0"/>
              <a:t>&amp; Expected Business Impact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1040" y="1600200"/>
            <a:ext cx="8183880" cy="48310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1. Strengthen Capacity During Peak Hours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Recommendation:</a:t>
            </a:r>
            <a:r>
              <a:rPr lang="en-US" sz="1600" dirty="0">
                <a:solidFill>
                  <a:schemeClr val="bg1"/>
                </a:solidFill>
              </a:rPr>
              <a:t/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 smtClean="0">
                <a:solidFill>
                  <a:schemeClr val="bg1"/>
                </a:solidFill>
              </a:rPr>
              <a:t>   Increase </a:t>
            </a:r>
            <a:r>
              <a:rPr lang="en-US" sz="1600" dirty="0">
                <a:solidFill>
                  <a:schemeClr val="bg1"/>
                </a:solidFill>
              </a:rPr>
              <a:t>driver and vehicle availability during identified peak time windows.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Expected Business Impact:</a:t>
            </a:r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Reduced customer wait times</a:t>
            </a:r>
          </a:p>
          <a:p>
            <a:r>
              <a:rPr lang="en-US" sz="1600" dirty="0">
                <a:solidFill>
                  <a:schemeClr val="bg1"/>
                </a:solidFill>
              </a:rPr>
              <a:t>Higher ride completion rates</a:t>
            </a:r>
          </a:p>
          <a:p>
            <a:r>
              <a:rPr lang="en-US" sz="1600" dirty="0">
                <a:solidFill>
                  <a:schemeClr val="bg1"/>
                </a:solidFill>
              </a:rPr>
              <a:t>Improved customer satisfaction and </a:t>
            </a:r>
            <a:r>
              <a:rPr lang="en-US" sz="1600" dirty="0" smtClean="0">
                <a:solidFill>
                  <a:schemeClr val="bg1"/>
                </a:solidFill>
              </a:rPr>
              <a:t>retention</a:t>
            </a:r>
          </a:p>
          <a:p>
            <a:pPr marL="0" indent="0">
              <a:buNone/>
            </a:pPr>
            <a:endParaRPr lang="en-US" sz="1600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2. Accelerate Electric Bike Adoption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Recommendation:</a:t>
            </a:r>
            <a:r>
              <a:rPr lang="en-US" sz="1600" dirty="0">
                <a:solidFill>
                  <a:schemeClr val="bg1"/>
                </a:solidFill>
              </a:rPr>
              <a:t/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 smtClean="0">
                <a:solidFill>
                  <a:schemeClr val="bg1"/>
                </a:solidFill>
              </a:rPr>
              <a:t>   Promote </a:t>
            </a:r>
            <a:r>
              <a:rPr lang="en-US" sz="1600" dirty="0">
                <a:solidFill>
                  <a:schemeClr val="bg1"/>
                </a:solidFill>
              </a:rPr>
              <a:t>electric bike usage through incentives, targeted campaigns, and strategic deployment.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Expected Business Impact:</a:t>
            </a:r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Lower operational fuel costs</a:t>
            </a:r>
          </a:p>
          <a:p>
            <a:r>
              <a:rPr lang="en-US" sz="1600" dirty="0">
                <a:solidFill>
                  <a:schemeClr val="bg1"/>
                </a:solidFill>
              </a:rPr>
              <a:t>Enhanced sustainability and brand perception</a:t>
            </a:r>
          </a:p>
          <a:p>
            <a:r>
              <a:rPr lang="en-US" sz="1600" dirty="0">
                <a:solidFill>
                  <a:schemeClr val="bg1"/>
                </a:solidFill>
              </a:rPr>
              <a:t>Diversified fleet with long-term cost efficiency</a:t>
            </a: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>
              <a:defRPr sz="1600">
                <a:solidFill>
                  <a:srgbClr val="FFFFFF"/>
                </a:solidFill>
              </a:defRPr>
            </a:pPr>
            <a:endParaRPr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6760" y="899160"/>
            <a:ext cx="7940040" cy="55930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3. Optimize High-Demand Locations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Recommendation:</a:t>
            </a:r>
            <a:r>
              <a:rPr lang="en-US" sz="1600" dirty="0">
                <a:solidFill>
                  <a:schemeClr val="bg1"/>
                </a:solidFill>
              </a:rPr>
              <a:t/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 smtClean="0">
                <a:solidFill>
                  <a:schemeClr val="bg1"/>
                </a:solidFill>
              </a:rPr>
              <a:t>   Prioritize </a:t>
            </a:r>
            <a:r>
              <a:rPr lang="en-US" sz="1600" dirty="0">
                <a:solidFill>
                  <a:schemeClr val="bg1"/>
                </a:solidFill>
              </a:rPr>
              <a:t>bike allocation and operational focus in high-traffic start locations.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Expected Business Impact:</a:t>
            </a:r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Improved ride availability in critical areas</a:t>
            </a:r>
          </a:p>
          <a:p>
            <a:r>
              <a:rPr lang="en-US" sz="1600" dirty="0">
                <a:solidFill>
                  <a:schemeClr val="bg1"/>
                </a:solidFill>
              </a:rPr>
              <a:t>Higher utilization rates per vehicle</a:t>
            </a:r>
          </a:p>
          <a:p>
            <a:r>
              <a:rPr lang="en-US" sz="1600" dirty="0">
                <a:solidFill>
                  <a:schemeClr val="bg1"/>
                </a:solidFill>
              </a:rPr>
              <a:t>More efficient resource </a:t>
            </a:r>
            <a:r>
              <a:rPr lang="en-US" sz="1600" dirty="0" smtClean="0">
                <a:solidFill>
                  <a:schemeClr val="bg1"/>
                </a:solidFill>
              </a:rPr>
              <a:t>distribution</a:t>
            </a: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4. Implement Data-Driven Dynamic Pricing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Recommendation:</a:t>
            </a:r>
            <a:r>
              <a:rPr lang="en-US" sz="1600" dirty="0">
                <a:solidFill>
                  <a:schemeClr val="bg1"/>
                </a:solidFill>
              </a:rPr>
              <a:t/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 smtClean="0">
                <a:solidFill>
                  <a:schemeClr val="bg1"/>
                </a:solidFill>
              </a:rPr>
              <a:t>   Apply </a:t>
            </a:r>
            <a:r>
              <a:rPr lang="en-US" sz="1600" dirty="0">
                <a:solidFill>
                  <a:schemeClr val="bg1"/>
                </a:solidFill>
              </a:rPr>
              <a:t>dynamic pricing strategies based on peak demand insights.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Expected Business Impact:</a:t>
            </a:r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Better demand balancing during peak hours</a:t>
            </a:r>
          </a:p>
          <a:p>
            <a:r>
              <a:rPr lang="en-US" sz="1600" dirty="0">
                <a:solidFill>
                  <a:schemeClr val="bg1"/>
                </a:solidFill>
              </a:rPr>
              <a:t>Increased revenue per ride</a:t>
            </a:r>
          </a:p>
          <a:p>
            <a:r>
              <a:rPr lang="en-US" sz="1600" dirty="0">
                <a:solidFill>
                  <a:schemeClr val="bg1"/>
                </a:solidFill>
              </a:rPr>
              <a:t>Optimized supply-demand alignment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0788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FFC107"/>
                </a:solidFill>
              </a:defRPr>
            </a:pPr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50720"/>
            <a:ext cx="8229600" cy="4175443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• The Power BI analysis delivers </a:t>
            </a:r>
            <a:r>
              <a:rPr lang="en-US" sz="1600" b="1" dirty="0">
                <a:solidFill>
                  <a:schemeClr val="bg1"/>
                </a:solidFill>
              </a:rPr>
              <a:t>clear, actionable insights</a:t>
            </a:r>
            <a:r>
              <a:rPr lang="en-US" sz="1600" dirty="0">
                <a:solidFill>
                  <a:schemeClr val="bg1"/>
                </a:solidFill>
              </a:rPr>
              <a:t> into ride demand patterns, usage trends, and operational performance</a:t>
            </a:r>
            <a:r>
              <a:rPr lang="en-US" sz="1600" dirty="0" smtClean="0">
                <a:solidFill>
                  <a:schemeClr val="bg1"/>
                </a:solidFill>
              </a:rPr>
              <a:t>.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• The findings enable </a:t>
            </a:r>
            <a:r>
              <a:rPr lang="en-US" sz="1600" b="1" dirty="0">
                <a:solidFill>
                  <a:schemeClr val="bg1"/>
                </a:solidFill>
              </a:rPr>
              <a:t>data-driven decision-making</a:t>
            </a:r>
            <a:r>
              <a:rPr lang="en-US" sz="1600" dirty="0">
                <a:solidFill>
                  <a:schemeClr val="bg1"/>
                </a:solidFill>
              </a:rPr>
              <a:t>, supporting improved resource allocation, demand management, and service optimization</a:t>
            </a:r>
            <a:r>
              <a:rPr lang="en-US" sz="1600" dirty="0" smtClean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• Overall, this analysis provides a </a:t>
            </a:r>
            <a:r>
              <a:rPr lang="en-US" sz="1600" b="1" dirty="0">
                <a:solidFill>
                  <a:schemeClr val="bg1"/>
                </a:solidFill>
              </a:rPr>
              <a:t>scalable analytical framework</a:t>
            </a:r>
            <a:r>
              <a:rPr lang="en-US" sz="1600" dirty="0">
                <a:solidFill>
                  <a:schemeClr val="bg1"/>
                </a:solidFill>
              </a:rPr>
              <a:t> that supports continuous performance monitoring and informed business growth.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>
              <a:defRPr sz="3200" b="1">
                <a:solidFill>
                  <a:srgbClr val="FFC107"/>
                </a:solidFill>
              </a:defRPr>
            </a:pPr>
            <a:r>
              <a:rPr lang="en-IN" sz="3200" b="1" dirty="0"/>
              <a:t>Key Takeaway</a:t>
            </a:r>
            <a:endParaRPr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1950720"/>
            <a:ext cx="8229600" cy="4175443"/>
          </a:xfrm>
        </p:spPr>
        <p:txBody>
          <a:bodyPr>
            <a:norm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This analysis demonstrates how structured data preparation, robust KPI modeling, and interactive visualization transform raw operational data into actionable business insights</a:t>
            </a:r>
            <a:r>
              <a:rPr lang="en-US" sz="1600" b="1" dirty="0" smtClean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By leveraging </a:t>
            </a:r>
            <a:r>
              <a:rPr lang="en-US" sz="1600" b="1" dirty="0">
                <a:solidFill>
                  <a:schemeClr val="bg1"/>
                </a:solidFill>
              </a:rPr>
              <a:t>SQL for data analysis</a:t>
            </a:r>
            <a:r>
              <a:rPr lang="en-US" sz="1600" dirty="0">
                <a:solidFill>
                  <a:schemeClr val="bg1"/>
                </a:solidFill>
              </a:rPr>
              <a:t> and </a:t>
            </a:r>
            <a:r>
              <a:rPr lang="en-US" sz="1600" b="1" dirty="0">
                <a:solidFill>
                  <a:schemeClr val="bg1"/>
                </a:solidFill>
              </a:rPr>
              <a:t>Power BI for visualization</a:t>
            </a:r>
            <a:r>
              <a:rPr lang="en-US" sz="1600" dirty="0">
                <a:solidFill>
                  <a:schemeClr val="bg1"/>
                </a:solidFill>
              </a:rPr>
              <a:t>, the dashboard enables stakeholders to</a:t>
            </a:r>
            <a:r>
              <a:rPr lang="en-US" sz="1600" dirty="0" smtClean="0">
                <a:solidFill>
                  <a:schemeClr val="bg1"/>
                </a:solidFill>
              </a:rPr>
              <a:t>:</a:t>
            </a: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chemeClr val="bg1"/>
                </a:solidFill>
              </a:rPr>
              <a:t>        </a:t>
            </a:r>
            <a:r>
              <a:rPr lang="en-US" sz="1800" b="1" dirty="0">
                <a:solidFill>
                  <a:schemeClr val="bg1"/>
                </a:solidFill>
              </a:rPr>
              <a:t>Monitor operational performance effectively</a:t>
            </a:r>
            <a:r>
              <a:rPr lang="en-US" sz="2000" dirty="0">
                <a:solidFill>
                  <a:schemeClr val="bg1"/>
                </a:solidFill>
              </a:rPr>
              <a:t/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1600" dirty="0" smtClean="0">
                <a:solidFill>
                  <a:schemeClr val="bg1"/>
                </a:solidFill>
              </a:rPr>
              <a:t>               → </a:t>
            </a:r>
            <a:r>
              <a:rPr lang="en-US" sz="1600" dirty="0">
                <a:solidFill>
                  <a:schemeClr val="bg1"/>
                </a:solidFill>
              </a:rPr>
              <a:t>Real-time visibility into ride volume, efficiency, and service stability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bg1"/>
                </a:solidFill>
              </a:rPr>
              <a:t>         </a:t>
            </a:r>
            <a:r>
              <a:rPr lang="en-US" sz="1800" b="1" dirty="0" smtClean="0">
                <a:solidFill>
                  <a:schemeClr val="bg1"/>
                </a:solidFill>
              </a:rPr>
              <a:t>Anticipate </a:t>
            </a:r>
            <a:r>
              <a:rPr lang="en-US" sz="1800" b="1" dirty="0">
                <a:solidFill>
                  <a:schemeClr val="bg1"/>
                </a:solidFill>
              </a:rPr>
              <a:t>demand patterns with confidence</a:t>
            </a:r>
            <a:r>
              <a:rPr lang="en-US" sz="2000" dirty="0">
                <a:solidFill>
                  <a:schemeClr val="bg1"/>
                </a:solidFill>
              </a:rPr>
              <a:t/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1600" dirty="0" smtClean="0">
                <a:solidFill>
                  <a:schemeClr val="bg1"/>
                </a:solidFill>
              </a:rPr>
              <a:t>               → </a:t>
            </a:r>
            <a:r>
              <a:rPr lang="en-US" sz="1600" dirty="0">
                <a:solidFill>
                  <a:schemeClr val="bg1"/>
                </a:solidFill>
              </a:rPr>
              <a:t>Proactive identification of peak hours and usage trends for better planning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bg1"/>
                </a:solidFill>
              </a:rPr>
              <a:t>         </a:t>
            </a:r>
            <a:r>
              <a:rPr lang="en-US" sz="1800" b="1" dirty="0" smtClean="0">
                <a:solidFill>
                  <a:schemeClr val="bg1"/>
                </a:solidFill>
              </a:rPr>
              <a:t>Support </a:t>
            </a:r>
            <a:r>
              <a:rPr lang="en-US" sz="1800" b="1" dirty="0">
                <a:solidFill>
                  <a:schemeClr val="bg1"/>
                </a:solidFill>
              </a:rPr>
              <a:t>informed, data-driven strategic decisions</a:t>
            </a:r>
            <a:r>
              <a:rPr lang="en-US" sz="1800" dirty="0">
                <a:solidFill>
                  <a:schemeClr val="bg1"/>
                </a:solidFill>
              </a:rPr>
              <a:t/>
            </a:r>
            <a:br>
              <a:rPr lang="en-US" sz="1800" dirty="0">
                <a:solidFill>
                  <a:schemeClr val="bg1"/>
                </a:solidFill>
              </a:rPr>
            </a:br>
            <a:r>
              <a:rPr lang="en-US" sz="1600" dirty="0" smtClean="0">
                <a:solidFill>
                  <a:schemeClr val="bg1"/>
                </a:solidFill>
              </a:rPr>
              <a:t>               → </a:t>
            </a:r>
            <a:r>
              <a:rPr lang="en-US" sz="1600" dirty="0">
                <a:solidFill>
                  <a:schemeClr val="bg1"/>
                </a:solidFill>
              </a:rPr>
              <a:t>Reliable insights that guide pricing, capacity, and growth strategies</a:t>
            </a:r>
          </a:p>
        </p:txBody>
      </p:sp>
    </p:spTree>
    <p:extLst>
      <p:ext uri="{BB962C8B-B14F-4D97-AF65-F5344CB8AC3E}">
        <p14:creationId xmlns:p14="http://schemas.microsoft.com/office/powerpoint/2010/main" val="3802267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1112838"/>
            <a:ext cx="8229600" cy="1143000"/>
          </a:xfrm>
        </p:spPr>
        <p:txBody>
          <a:bodyPr/>
          <a:lstStyle/>
          <a:p>
            <a:pPr>
              <a:defRPr sz="3200" b="1">
                <a:solidFill>
                  <a:srgbClr val="FFC107"/>
                </a:solidFill>
              </a:defRPr>
            </a:pPr>
            <a:r>
              <a:rPr lang="en-IN" sz="3600" b="1" dirty="0" smtClean="0"/>
              <a:t>Thank </a:t>
            </a:r>
            <a:r>
              <a:rPr lang="en-IN" sz="3600" b="1" dirty="0"/>
              <a:t>You </a:t>
            </a:r>
            <a:r>
              <a:rPr lang="en-IN" sz="3600" b="1" dirty="0" smtClean="0"/>
              <a:t>&amp; Q&amp;A</a:t>
            </a:r>
            <a:r>
              <a:rPr lang="en-IN" sz="3200" b="1" dirty="0"/>
              <a:t/>
            </a:r>
            <a:br>
              <a:rPr lang="en-IN" sz="3200" b="1" dirty="0"/>
            </a:br>
            <a:endParaRPr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853440" y="3139440"/>
            <a:ext cx="7833360" cy="2788603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Thank you for your time and </a:t>
            </a:r>
            <a:r>
              <a:rPr lang="en-US" sz="2400" dirty="0" smtClean="0">
                <a:solidFill>
                  <a:schemeClr val="bg1"/>
                </a:solidFill>
              </a:rPr>
              <a:t>attention.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I’m </a:t>
            </a:r>
            <a:r>
              <a:rPr lang="en-US" sz="2400" dirty="0">
                <a:solidFill>
                  <a:schemeClr val="bg1"/>
                </a:solidFill>
              </a:rPr>
              <a:t>happy to take your questions</a:t>
            </a:r>
            <a:r>
              <a:rPr lang="en-US" sz="2400" dirty="0" smtClean="0">
                <a:solidFill>
                  <a:schemeClr val="bg1"/>
                </a:solidFill>
              </a:rPr>
              <a:t>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 dirty="0" smtClean="0">
                <a:solidFill>
                  <a:schemeClr val="bg1"/>
                </a:solidFill>
              </a:rPr>
              <a:t>Rumaisa </a:t>
            </a:r>
            <a:r>
              <a:rPr lang="en-US" sz="2400" b="1" dirty="0">
                <a:solidFill>
                  <a:schemeClr val="bg1"/>
                </a:solidFill>
              </a:rPr>
              <a:t>KK</a:t>
            </a:r>
            <a:r>
              <a:rPr lang="en-US" sz="2400" dirty="0">
                <a:solidFill>
                  <a:schemeClr val="bg1"/>
                </a:solidFill>
              </a:rPr>
              <a:t/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Data Analyst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Doctosmart Enterprises Pvt Ltd</a:t>
            </a:r>
          </a:p>
        </p:txBody>
      </p:sp>
    </p:spTree>
    <p:extLst>
      <p:ext uri="{BB962C8B-B14F-4D97-AF65-F5344CB8AC3E}">
        <p14:creationId xmlns:p14="http://schemas.microsoft.com/office/powerpoint/2010/main" val="4224166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20391</TotalTime>
  <Words>848</Words>
  <Application>Microsoft Office PowerPoint</Application>
  <PresentationFormat>On-screen Show (4:3)</PresentationFormat>
  <Paragraphs>161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Rapido Ride Analytics Report</vt:lpstr>
      <vt:lpstr>Executive Summary</vt:lpstr>
      <vt:lpstr>Methodology</vt:lpstr>
      <vt:lpstr>Data Preparation &amp; Feature Engineering</vt:lpstr>
      <vt:lpstr>PowerPoint Presentation</vt:lpstr>
      <vt:lpstr>SQL-Based Data Analysis </vt:lpstr>
      <vt:lpstr> Power BI Dashboard Overview </vt:lpstr>
      <vt:lpstr>  </vt:lpstr>
      <vt:lpstr>Ride Trend Over Time</vt:lpstr>
      <vt:lpstr>Ride Type Distribution</vt:lpstr>
      <vt:lpstr>Hourly Ride Distribution</vt:lpstr>
      <vt:lpstr>Recommendations &amp; Expected Business Impact</vt:lpstr>
      <vt:lpstr>PowerPoint Presentation</vt:lpstr>
      <vt:lpstr>Conclusion</vt:lpstr>
      <vt:lpstr>Key Takeaway</vt:lpstr>
      <vt:lpstr>Thank You &amp; Q&amp;A 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Rapido Ride Analytics Report</dc:title>
  <dc:subject/>
  <dc:creator>HP</dc:creator>
  <cp:keywords/>
  <dc:description>generated using python-pptx</dc:description>
  <cp:lastModifiedBy>HP</cp:lastModifiedBy>
  <cp:revision>42</cp:revision>
  <dcterms:created xsi:type="dcterms:W3CDTF">2013-01-27T09:14:16Z</dcterms:created>
  <dcterms:modified xsi:type="dcterms:W3CDTF">2026-01-19T08:49:21Z</dcterms:modified>
  <cp:category/>
</cp:coreProperties>
</file>